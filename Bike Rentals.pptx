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67" r:id="rId5"/>
    <p:sldId id="268" r:id="rId6"/>
    <p:sldId id="258" r:id="rId7"/>
    <p:sldId id="259" r:id="rId8"/>
    <p:sldId id="261" r:id="rId9"/>
    <p:sldId id="262" r:id="rId10"/>
    <p:sldId id="263" r:id="rId11"/>
    <p:sldId id="264" r:id="rId12"/>
    <p:sldId id="265"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01E27-6E4B-41DB-3183-D7C6333419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CE5504-F062-1F71-8944-04ED7C7BB4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DB4D9FF-9D94-7F7A-FD8B-F60CA0012DFA}"/>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5" name="Footer Placeholder 4">
            <a:extLst>
              <a:ext uri="{FF2B5EF4-FFF2-40B4-BE49-F238E27FC236}">
                <a16:creationId xmlns:a16="http://schemas.microsoft.com/office/drawing/2014/main" id="{68D8CEB4-45F7-DE5C-D359-B316D3E105C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FED1CD6-47E0-4A15-916C-2686B4FB4468}"/>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4090890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96DF5-8233-E4BA-9B7A-FF717ED199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B99DEC-C020-2B74-56FD-F35489A72B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F6E858-D5D6-194E-1391-AAE5ACBFD8D0}"/>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5" name="Footer Placeholder 4">
            <a:extLst>
              <a:ext uri="{FF2B5EF4-FFF2-40B4-BE49-F238E27FC236}">
                <a16:creationId xmlns:a16="http://schemas.microsoft.com/office/drawing/2014/main" id="{0820C694-9B2E-E412-4298-2809C7B0279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3AFC493-84BE-4757-6D39-F9C0195AFDEE}"/>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1322410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86FB7-201B-CB12-EB78-DC616348AD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0339DB-76D5-6565-00E4-9521045624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CE4407-26D7-88CA-2F60-4C7310B3C178}"/>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5" name="Footer Placeholder 4">
            <a:extLst>
              <a:ext uri="{FF2B5EF4-FFF2-40B4-BE49-F238E27FC236}">
                <a16:creationId xmlns:a16="http://schemas.microsoft.com/office/drawing/2014/main" id="{93073A8F-9CB3-15C7-D842-F7678DE764E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664EC3F-60E9-B905-C30B-5D7952EBB222}"/>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983258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77A2-56DE-5D7A-2034-4850E23C2B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C5C148-57A9-F03B-6D68-DD14C4DAEE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3D2E479-CF46-7C47-B16D-BA2B761A68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C5CBDE-F290-F462-EE82-F1138499744F}"/>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6" name="Footer Placeholder 5">
            <a:extLst>
              <a:ext uri="{FF2B5EF4-FFF2-40B4-BE49-F238E27FC236}">
                <a16:creationId xmlns:a16="http://schemas.microsoft.com/office/drawing/2014/main" id="{CE773761-1FD2-2F56-E540-DFF2D330B78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99C41ED-0DA3-B202-41AC-26392FF52CB0}"/>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551735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5F87F-4B72-69F2-BCB2-53EF2AD456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C3ECD9-53E6-1E5D-70DE-18DF850DBB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022C9F-1718-45A3-2F2D-A2BE490C89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394CCE5-43D7-6586-7ADE-E2B619467D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3B1CE0-9004-FA10-D93A-4486F450B8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1B0789-D7B9-E6B4-99E5-C09DB470454D}"/>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8" name="Footer Placeholder 7">
            <a:extLst>
              <a:ext uri="{FF2B5EF4-FFF2-40B4-BE49-F238E27FC236}">
                <a16:creationId xmlns:a16="http://schemas.microsoft.com/office/drawing/2014/main" id="{68BCECCF-BC8E-8619-6E0F-E11915B491A1}"/>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EB5B253A-4E7D-E61A-5974-12211B3B5C2F}"/>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479280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D2BD8-DFA2-6778-86A8-6A3240C188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ABE8F4-30E6-4309-EAE6-EC34668D21DE}"/>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4" name="Footer Placeholder 3">
            <a:extLst>
              <a:ext uri="{FF2B5EF4-FFF2-40B4-BE49-F238E27FC236}">
                <a16:creationId xmlns:a16="http://schemas.microsoft.com/office/drawing/2014/main" id="{885D53DD-2B59-4B26-7484-7B374E819E79}"/>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39873B1-F560-A76D-ED51-D59C8962AC53}"/>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592575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C49913-408E-7A97-95EF-A84C95576C47}"/>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3" name="Footer Placeholder 2">
            <a:extLst>
              <a:ext uri="{FF2B5EF4-FFF2-40B4-BE49-F238E27FC236}">
                <a16:creationId xmlns:a16="http://schemas.microsoft.com/office/drawing/2014/main" id="{EAC250E5-1AFB-E9B2-A401-EEBFF355E94D}"/>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1B83E9E3-4F1F-647F-18CD-C70D6097206B}"/>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2131591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A5C1D-1892-5891-81FF-470EFB8F2C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F39395-6F6C-F4CD-1159-A78BDBCF18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F3A150-B4B3-34AE-C36E-D719B4A872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01C62-B483-766E-59DF-E4D1E42BC8D3}"/>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6" name="Footer Placeholder 5">
            <a:extLst>
              <a:ext uri="{FF2B5EF4-FFF2-40B4-BE49-F238E27FC236}">
                <a16:creationId xmlns:a16="http://schemas.microsoft.com/office/drawing/2014/main" id="{16BEFF0E-34F9-25AA-795B-70D2B531B4E2}"/>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BA2B71E-626F-E240-5244-EA78066FC3D3}"/>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2656772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7F0AB-02B8-34EB-339A-B41F778E0B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CB294E-B11A-A0B9-C433-E703AD8240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054EFAC2-00CD-4A7E-18FF-1ED1A08A9F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7C75A3-519B-F10A-C60D-D701FFDB8F3A}"/>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6" name="Footer Placeholder 5">
            <a:extLst>
              <a:ext uri="{FF2B5EF4-FFF2-40B4-BE49-F238E27FC236}">
                <a16:creationId xmlns:a16="http://schemas.microsoft.com/office/drawing/2014/main" id="{1552A3C6-36CD-EE11-C828-C331419C5F4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39489EA-1ED1-E8FA-FD2E-63E9DA24C3E6}"/>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2703582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D036-7981-2BC3-3ABA-593ED6C50A8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752861-5CB8-6442-7484-13270487D4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B9E2CC-2D8A-DF33-B144-CF48A3D88E85}"/>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5" name="Footer Placeholder 4">
            <a:extLst>
              <a:ext uri="{FF2B5EF4-FFF2-40B4-BE49-F238E27FC236}">
                <a16:creationId xmlns:a16="http://schemas.microsoft.com/office/drawing/2014/main" id="{E8BE7D69-7F5D-95B7-A61C-864C956126B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A0588AF-F8B2-7778-EA41-E2A7F06F2AEA}"/>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2563622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E6C413-18C8-BA78-10F4-EFA2717DDE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8D514F-A26D-2B8A-482F-BED0BA2616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5BC087-A9C6-EE22-9586-845F10B07A9C}"/>
              </a:ext>
            </a:extLst>
          </p:cNvPr>
          <p:cNvSpPr>
            <a:spLocks noGrp="1"/>
          </p:cNvSpPr>
          <p:nvPr>
            <p:ph type="dt" sz="half" idx="10"/>
          </p:nvPr>
        </p:nvSpPr>
        <p:spPr/>
        <p:txBody>
          <a:bodyPr/>
          <a:lstStyle/>
          <a:p>
            <a:fld id="{CEF883A8-288E-4653-A718-28E4661B8451}" type="datetimeFigureOut">
              <a:rPr lang="en-IN" smtClean="0"/>
              <a:t>25-03-2026</a:t>
            </a:fld>
            <a:endParaRPr lang="en-IN" dirty="0"/>
          </a:p>
        </p:txBody>
      </p:sp>
      <p:sp>
        <p:nvSpPr>
          <p:cNvPr id="5" name="Footer Placeholder 4">
            <a:extLst>
              <a:ext uri="{FF2B5EF4-FFF2-40B4-BE49-F238E27FC236}">
                <a16:creationId xmlns:a16="http://schemas.microsoft.com/office/drawing/2014/main" id="{E9F18ED0-8360-FEDD-8F6B-CDAFF3CEA51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C656A7-E82D-C356-970A-EA82CD75D83E}"/>
              </a:ext>
            </a:extLst>
          </p:cNvPr>
          <p:cNvSpPr>
            <a:spLocks noGrp="1"/>
          </p:cNvSpPr>
          <p:nvPr>
            <p:ph type="sldNum" sz="quarter" idx="12"/>
          </p:nvPr>
        </p:nvSpPr>
        <p:spPr/>
        <p:txBody>
          <a:bodyPr/>
          <a:lstStyle/>
          <a:p>
            <a:fld id="{5970405B-ECBE-4033-BA06-D6F65F7A119D}" type="slidenum">
              <a:rPr lang="en-IN" smtClean="0"/>
              <a:t>‹#›</a:t>
            </a:fld>
            <a:endParaRPr lang="en-IN" dirty="0"/>
          </a:p>
        </p:txBody>
      </p:sp>
    </p:spTree>
    <p:extLst>
      <p:ext uri="{BB962C8B-B14F-4D97-AF65-F5344CB8AC3E}">
        <p14:creationId xmlns:p14="http://schemas.microsoft.com/office/powerpoint/2010/main" val="2934933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7FA718-FA71-06C7-C8DA-871F90E94C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4B9810-8DB2-7F31-B20A-8E0BACA78F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B573B0-813D-6C8B-CFC2-53A693C052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F883A8-288E-4653-A718-28E4661B8451}" type="datetimeFigureOut">
              <a:rPr lang="en-IN" smtClean="0"/>
              <a:t>25-03-2026</a:t>
            </a:fld>
            <a:endParaRPr lang="en-IN" dirty="0"/>
          </a:p>
        </p:txBody>
      </p:sp>
      <p:sp>
        <p:nvSpPr>
          <p:cNvPr id="5" name="Footer Placeholder 4">
            <a:extLst>
              <a:ext uri="{FF2B5EF4-FFF2-40B4-BE49-F238E27FC236}">
                <a16:creationId xmlns:a16="http://schemas.microsoft.com/office/drawing/2014/main" id="{9954AC34-2C70-7600-8737-DF3CAF4038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8F8E91AC-EE72-8D71-96BA-1A651E7FC3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70405B-ECBE-4033-BA06-D6F65F7A119D}" type="slidenum">
              <a:rPr lang="en-IN" smtClean="0"/>
              <a:t>‹#›</a:t>
            </a:fld>
            <a:endParaRPr lang="en-IN" dirty="0"/>
          </a:p>
        </p:txBody>
      </p:sp>
    </p:spTree>
    <p:extLst>
      <p:ext uri="{BB962C8B-B14F-4D97-AF65-F5344CB8AC3E}">
        <p14:creationId xmlns:p14="http://schemas.microsoft.com/office/powerpoint/2010/main" val="2202793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file:///C:\Users\sudha\Desktop\New%20folder\EXCEL%20PROJECT\Datasheet%20B.xlsx!Weekday!R3C1:R11C2" TargetMode="External"/><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oleObject" Target="file:///C:\Users\sudha\Desktop\New%20folder\EXCEL%20PROJECT\Datasheet%20B.xlsx!Weekday!%5bDatasheet%20B.xlsx%5dWeekday%20Chart%202"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file:///C:\Users\sudha\Desktop\New%20folder\EXCEL%20PROJECT\Datasheet%20B.xlsx!Weathersit!R3C1:R8C2" TargetMode="Externa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oleObject" Target="file:///C:\Users\sudha\Desktop\New%20folder\EXCEL%20PROJECT\Datasheet%20B.xlsx!Weathersit!%5bDatasheet%20B.xlsx%5dWeathersit%20Chart%201"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file:///C:\Users\sudha\Desktop\New%20folder\EXCEL%20PROJECT\Datasheet%20B.xlsx!Holiday!R3C1:R6C2" TargetMode="Externa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oleObject" Target="file:///C:\Users\sudha\Desktop\New%20folder\EXCEL%20PROJECT\Datasheet%20B.xlsx!Holiday!%5bDatasheet%20B.xlsx%5dHoliday%20Chart%201"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file:///C:\Users\sudha\Desktop\New%20folder\EXCEL%20PROJECT\Datasheet%20B.xlsx!Hum!%5bDatasheet%20B.xlsx%5dHum%20Chart%201"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file:///C:\Users\sudha\Desktop\New%20folder\EXCEL%20PROJECT\Datasheet%20B.xlsx!Windspeed!%5bDatasheet%20B.xlsx%5dWindspeed%20Chart%201"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file:///C:\Users\sudha\Desktop\New%20folder\EXCEL%20PROJECT\Datasheet%20B.xlsx!Temp!%5bDatasheet%20B.xlsx%5dTemp%20Chart%201"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file:///C:\Users\sudha\Desktop\New%20folder\EXCEL%20PROJECT\Datasheet%20B.xlsx!Hr!%5bDatasheet%20B.xlsx%5dHr%20Chart%201"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99D48-7574-4F26-40B7-271576037259}"/>
              </a:ext>
            </a:extLst>
          </p:cNvPr>
          <p:cNvSpPr>
            <a:spLocks noGrp="1"/>
          </p:cNvSpPr>
          <p:nvPr>
            <p:ph type="ctrTitle"/>
          </p:nvPr>
        </p:nvSpPr>
        <p:spPr/>
        <p:txBody>
          <a:bodyPr/>
          <a:lstStyle/>
          <a:p>
            <a:r>
              <a:rPr lang="en-US" dirty="0">
                <a:solidFill>
                  <a:srgbClr val="FF0000"/>
                </a:solidFill>
              </a:rPr>
              <a:t>Bike Sharing Demand Analysis Project Using Excel</a:t>
            </a:r>
            <a:endParaRPr lang="en-IN" dirty="0">
              <a:solidFill>
                <a:srgbClr val="FF0000"/>
              </a:solidFill>
            </a:endParaRPr>
          </a:p>
        </p:txBody>
      </p:sp>
      <p:sp>
        <p:nvSpPr>
          <p:cNvPr id="3" name="Subtitle 2">
            <a:extLst>
              <a:ext uri="{FF2B5EF4-FFF2-40B4-BE49-F238E27FC236}">
                <a16:creationId xmlns:a16="http://schemas.microsoft.com/office/drawing/2014/main" id="{D88597A8-0723-0E59-5D0F-8DA5042FA6ED}"/>
              </a:ext>
            </a:extLst>
          </p:cNvPr>
          <p:cNvSpPr>
            <a:spLocks noGrp="1"/>
          </p:cNvSpPr>
          <p:nvPr>
            <p:ph type="subTitle"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286675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CA588-4D5A-5CCF-697C-8E6D6A0572BA}"/>
              </a:ext>
            </a:extLst>
          </p:cNvPr>
          <p:cNvSpPr>
            <a:spLocks noGrp="1"/>
          </p:cNvSpPr>
          <p:nvPr>
            <p:ph type="title"/>
          </p:nvPr>
        </p:nvSpPr>
        <p:spPr>
          <a:xfrm>
            <a:off x="838200" y="365125"/>
            <a:ext cx="10515600" cy="1325563"/>
          </a:xfrm>
        </p:spPr>
        <p:txBody>
          <a:bodyPr>
            <a:normAutofit/>
          </a:bodyPr>
          <a:lstStyle/>
          <a:p>
            <a:r>
              <a:rPr lang="en-IN" dirty="0"/>
              <a:t>Introducton</a:t>
            </a:r>
          </a:p>
        </p:txBody>
      </p:sp>
      <p:sp>
        <p:nvSpPr>
          <p:cNvPr id="3" name="Content Placeholder 2">
            <a:extLst>
              <a:ext uri="{FF2B5EF4-FFF2-40B4-BE49-F238E27FC236}">
                <a16:creationId xmlns:a16="http://schemas.microsoft.com/office/drawing/2014/main" id="{34F30B59-5722-78B1-FC85-64A49BB05605}"/>
              </a:ext>
            </a:extLst>
          </p:cNvPr>
          <p:cNvSpPr>
            <a:spLocks noGrp="1"/>
          </p:cNvSpPr>
          <p:nvPr>
            <p:ph idx="1"/>
          </p:nvPr>
        </p:nvSpPr>
        <p:spPr>
          <a:xfrm>
            <a:off x="838200" y="1825625"/>
            <a:ext cx="10515600" cy="4351338"/>
          </a:xfrm>
        </p:spPr>
        <p:txBody>
          <a:bodyPr>
            <a:normAutofit/>
          </a:bodyPr>
          <a:lstStyle/>
          <a:p>
            <a:r>
              <a:rPr lang="en-US" dirty="0"/>
              <a:t>We analyzing bike-sharing data that  helps us understand how weather, time, and holidays affect bike rentals. In this project uses Excel skills to clean, combine, and study datasets to find useful patterns that improve business planning. Organized data leads to better decisions faster.</a:t>
            </a:r>
            <a:endParaRPr lang="en-IN" dirty="0"/>
          </a:p>
        </p:txBody>
      </p:sp>
    </p:spTree>
    <p:extLst>
      <p:ext uri="{BB962C8B-B14F-4D97-AF65-F5344CB8AC3E}">
        <p14:creationId xmlns:p14="http://schemas.microsoft.com/office/powerpoint/2010/main" val="726209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A39C8-6942-8538-BBD1-6DA9EF565A0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C9BA1D43-1ECB-244E-1E2A-B94C9FDF5E11}"/>
              </a:ext>
            </a:extLst>
          </p:cNvPr>
          <p:cNvSpPr>
            <a:spLocks noGrp="1"/>
          </p:cNvSpPr>
          <p:nvPr>
            <p:ph idx="1"/>
          </p:nvPr>
        </p:nvSpPr>
        <p:spPr/>
        <p:txBody>
          <a:bodyPr/>
          <a:lstStyle/>
          <a:p>
            <a:pPr marL="0" indent="0">
              <a:buNone/>
            </a:pPr>
            <a:r>
              <a:rPr lang="en-IN" dirty="0"/>
              <a:t>In this project we have three Data set  </a:t>
            </a:r>
          </a:p>
          <a:p>
            <a:pPr marL="0" indent="0">
              <a:buNone/>
            </a:pPr>
            <a:r>
              <a:rPr lang="en-IN" dirty="0"/>
              <a:t>Dataset 1</a:t>
            </a:r>
          </a:p>
          <a:p>
            <a:pPr marL="0" indent="0">
              <a:buNone/>
            </a:pPr>
            <a:r>
              <a:rPr lang="en-IN" dirty="0"/>
              <a:t>Dataset 2</a:t>
            </a:r>
          </a:p>
          <a:p>
            <a:pPr marL="0" indent="0">
              <a:buNone/>
            </a:pPr>
            <a:r>
              <a:rPr lang="en-IN" dirty="0"/>
              <a:t>Dataset 3</a:t>
            </a:r>
          </a:p>
          <a:p>
            <a:pPr marL="0" indent="0">
              <a:buNone/>
            </a:pPr>
            <a:r>
              <a:rPr lang="en-IN" dirty="0"/>
              <a:t>Initially we  analysis all three data set separately and add dataset 1 and 2 and create dataset A, then we combine dataset A with dataset 3.The final Dataset we obtain Dataset B.</a:t>
            </a:r>
          </a:p>
        </p:txBody>
      </p:sp>
    </p:spTree>
    <p:extLst>
      <p:ext uri="{BB962C8B-B14F-4D97-AF65-F5344CB8AC3E}">
        <p14:creationId xmlns:p14="http://schemas.microsoft.com/office/powerpoint/2010/main" val="1191137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37FF-3BAC-261D-96F5-61BEC9C00F5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C0A9D1D-9059-A3C4-B1B8-6F8CAE8B35A1}"/>
              </a:ext>
            </a:extLst>
          </p:cNvPr>
          <p:cNvSpPr>
            <a:spLocks noGrp="1"/>
          </p:cNvSpPr>
          <p:nvPr>
            <p:ph idx="1"/>
          </p:nvPr>
        </p:nvSpPr>
        <p:spPr/>
        <p:txBody>
          <a:bodyPr>
            <a:normAutofit lnSpcReduction="10000"/>
          </a:bodyPr>
          <a:lstStyle/>
          <a:p>
            <a:r>
              <a:rPr lang="en-IN" dirty="0"/>
              <a:t>We analysis all three dataset separately and combined dataset A and B on the following base.</a:t>
            </a:r>
          </a:p>
          <a:p>
            <a:r>
              <a:rPr lang="en-IN" dirty="0"/>
              <a:t>Effect of weathersit on Demand</a:t>
            </a:r>
          </a:p>
          <a:p>
            <a:r>
              <a:rPr lang="en-IN" dirty="0"/>
              <a:t>Effect of temp on demand </a:t>
            </a:r>
          </a:p>
          <a:p>
            <a:r>
              <a:rPr lang="en-IN" dirty="0"/>
              <a:t>Effect of humidity</a:t>
            </a:r>
          </a:p>
          <a:p>
            <a:r>
              <a:rPr lang="en-IN" dirty="0"/>
              <a:t>Effect of hr</a:t>
            </a:r>
          </a:p>
          <a:p>
            <a:r>
              <a:rPr lang="en-IN" dirty="0"/>
              <a:t>Effect of windspeed </a:t>
            </a:r>
          </a:p>
          <a:p>
            <a:r>
              <a:rPr lang="en-IN" dirty="0"/>
              <a:t>Effect of holiday, weekday.</a:t>
            </a:r>
          </a:p>
          <a:p>
            <a:r>
              <a:rPr lang="en-IN" dirty="0"/>
              <a:t>Daily demand</a:t>
            </a:r>
          </a:p>
        </p:txBody>
      </p:sp>
    </p:spTree>
    <p:extLst>
      <p:ext uri="{BB962C8B-B14F-4D97-AF65-F5344CB8AC3E}">
        <p14:creationId xmlns:p14="http://schemas.microsoft.com/office/powerpoint/2010/main" val="3274952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54B10-74B6-CE38-5F06-E3E05BD632D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A80C53FF-B72A-3B57-93A6-005C7035992D}"/>
              </a:ext>
            </a:extLst>
          </p:cNvPr>
          <p:cNvSpPr>
            <a:spLocks noGrp="1"/>
          </p:cNvSpPr>
          <p:nvPr>
            <p:ph idx="1"/>
          </p:nvPr>
        </p:nvSpPr>
        <p:spPr/>
        <p:txBody>
          <a:bodyPr/>
          <a:lstStyle/>
          <a:p>
            <a:r>
              <a:rPr lang="en-IN" dirty="0"/>
              <a:t>We analysis all Dataset with excel tools and applying excel formulas and create pivot table and chart for understanding and analysis the data. We see the pattern and effect of factors affecting the bike rentals. Ther effect are shown in the pivot table and chart. In this presentation we shown the analysis from the final dataset B.</a:t>
            </a:r>
          </a:p>
        </p:txBody>
      </p:sp>
    </p:spTree>
    <p:extLst>
      <p:ext uri="{BB962C8B-B14F-4D97-AF65-F5344CB8AC3E}">
        <p14:creationId xmlns:p14="http://schemas.microsoft.com/office/powerpoint/2010/main" val="4044296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1F8C1-A106-0AAD-3F42-95C9D43EEEE6}"/>
              </a:ext>
            </a:extLst>
          </p:cNvPr>
          <p:cNvSpPr>
            <a:spLocks noGrp="1"/>
          </p:cNvSpPr>
          <p:nvPr>
            <p:ph type="title"/>
          </p:nvPr>
        </p:nvSpPr>
        <p:spPr/>
        <p:txBody>
          <a:bodyPr>
            <a:normAutofit/>
          </a:bodyPr>
          <a:lstStyle/>
          <a:p>
            <a:r>
              <a:rPr lang="en-IN" sz="2000" b="1" dirty="0">
                <a:solidFill>
                  <a:srgbClr val="FF0000"/>
                </a:solidFill>
              </a:rPr>
              <a:t>This pivot chart and table show the effect of weekday on CNT</a:t>
            </a:r>
          </a:p>
        </p:txBody>
      </p:sp>
      <p:sp>
        <p:nvSpPr>
          <p:cNvPr id="3" name="Content Placeholder 2">
            <a:extLst>
              <a:ext uri="{FF2B5EF4-FFF2-40B4-BE49-F238E27FC236}">
                <a16:creationId xmlns:a16="http://schemas.microsoft.com/office/drawing/2014/main" id="{049CE4BC-35D3-9A09-73D9-F8BF5EA19482}"/>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graphicFrame>
        <p:nvGraphicFramePr>
          <p:cNvPr id="10" name="Object 9">
            <a:extLst>
              <a:ext uri="{FF2B5EF4-FFF2-40B4-BE49-F238E27FC236}">
                <a16:creationId xmlns:a16="http://schemas.microsoft.com/office/drawing/2014/main" id="{12078CE2-1677-DAAF-16AA-2FE26E113001}"/>
              </a:ext>
            </a:extLst>
          </p:cNvPr>
          <p:cNvGraphicFramePr>
            <a:graphicFrameLocks noChangeAspect="1"/>
          </p:cNvGraphicFramePr>
          <p:nvPr>
            <p:extLst>
              <p:ext uri="{D42A27DB-BD31-4B8C-83A1-F6EECF244321}">
                <p14:modId xmlns:p14="http://schemas.microsoft.com/office/powerpoint/2010/main" val="3814524774"/>
              </p:ext>
            </p:extLst>
          </p:nvPr>
        </p:nvGraphicFramePr>
        <p:xfrm>
          <a:off x="838200" y="1765762"/>
          <a:ext cx="2369194" cy="2392414"/>
        </p:xfrm>
        <a:graphic>
          <a:graphicData uri="http://schemas.openxmlformats.org/presentationml/2006/ole">
            <mc:AlternateContent xmlns:mc="http://schemas.openxmlformats.org/markup-compatibility/2006">
              <mc:Choice xmlns:v="urn:schemas-microsoft-com:vml" Requires="v">
                <p:oleObj name="Worksheet" r:id="rId2" imgW="1463040" imgH="1653556" progId="Excel.Sheet.12">
                  <p:link updateAutomatic="1"/>
                </p:oleObj>
              </mc:Choice>
              <mc:Fallback>
                <p:oleObj name="Worksheet" r:id="rId2" imgW="1463040" imgH="1653556" progId="Excel.Sheet.12">
                  <p:link updateAutomatic="1"/>
                  <p:pic>
                    <p:nvPicPr>
                      <p:cNvPr id="0" name=""/>
                      <p:cNvPicPr/>
                      <p:nvPr/>
                    </p:nvPicPr>
                    <p:blipFill>
                      <a:blip r:embed="rId3"/>
                      <a:stretch>
                        <a:fillRect/>
                      </a:stretch>
                    </p:blipFill>
                    <p:spPr>
                      <a:xfrm>
                        <a:off x="838200" y="1765762"/>
                        <a:ext cx="2369194" cy="2392414"/>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0E99D477-EE98-872F-DD46-E206E08D03E2}"/>
              </a:ext>
            </a:extLst>
          </p:cNvPr>
          <p:cNvGraphicFramePr>
            <a:graphicFrameLocks noChangeAspect="1"/>
          </p:cNvGraphicFramePr>
          <p:nvPr>
            <p:extLst>
              <p:ext uri="{D42A27DB-BD31-4B8C-83A1-F6EECF244321}">
                <p14:modId xmlns:p14="http://schemas.microsoft.com/office/powerpoint/2010/main" val="2643288424"/>
              </p:ext>
            </p:extLst>
          </p:nvPr>
        </p:nvGraphicFramePr>
        <p:xfrm>
          <a:off x="4060723" y="1825625"/>
          <a:ext cx="7440561" cy="4427691"/>
        </p:xfrm>
        <a:graphic>
          <a:graphicData uri="http://schemas.openxmlformats.org/presentationml/2006/ole">
            <mc:AlternateContent xmlns:mc="http://schemas.openxmlformats.org/markup-compatibility/2006">
              <mc:Choice xmlns:v="urn:schemas-microsoft-com:vml" Requires="v">
                <p:oleObj name="Worksheet" r:id="rId4" imgW="5510848" imgH="2751099" progId="Excel.Sheet.12">
                  <p:link updateAutomatic="1"/>
                </p:oleObj>
              </mc:Choice>
              <mc:Fallback>
                <p:oleObj name="Worksheet" r:id="rId4" imgW="5510848" imgH="2751099" progId="Excel.Sheet.12">
                  <p:link updateAutomatic="1"/>
                  <p:pic>
                    <p:nvPicPr>
                      <p:cNvPr id="0" name=""/>
                      <p:cNvPicPr/>
                      <p:nvPr/>
                    </p:nvPicPr>
                    <p:blipFill>
                      <a:blip r:embed="rId5"/>
                      <a:stretch>
                        <a:fillRect/>
                      </a:stretch>
                    </p:blipFill>
                    <p:spPr>
                      <a:xfrm>
                        <a:off x="4060723" y="1825625"/>
                        <a:ext cx="7440561" cy="4427691"/>
                      </a:xfrm>
                      <a:prstGeom prst="rect">
                        <a:avLst/>
                      </a:prstGeom>
                    </p:spPr>
                  </p:pic>
                </p:oleObj>
              </mc:Fallback>
            </mc:AlternateContent>
          </a:graphicData>
        </a:graphic>
      </p:graphicFrame>
    </p:spTree>
    <p:extLst>
      <p:ext uri="{BB962C8B-B14F-4D97-AF65-F5344CB8AC3E}">
        <p14:creationId xmlns:p14="http://schemas.microsoft.com/office/powerpoint/2010/main" val="3126258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D5E17-0743-F9FE-DE70-0B6959204942}"/>
              </a:ext>
            </a:extLst>
          </p:cNvPr>
          <p:cNvSpPr>
            <a:spLocks noGrp="1"/>
          </p:cNvSpPr>
          <p:nvPr>
            <p:ph type="title"/>
          </p:nvPr>
        </p:nvSpPr>
        <p:spPr/>
        <p:txBody>
          <a:bodyPr>
            <a:normAutofit/>
          </a:bodyPr>
          <a:lstStyle/>
          <a:p>
            <a:r>
              <a:rPr lang="en-IN" sz="2800" b="1" dirty="0">
                <a:solidFill>
                  <a:srgbClr val="FF0000"/>
                </a:solidFill>
              </a:rPr>
              <a:t>This pivot chart and table show the effect of weathersit on CNT</a:t>
            </a:r>
            <a:endParaRPr lang="en-IN" sz="2800" dirty="0"/>
          </a:p>
        </p:txBody>
      </p:sp>
      <p:sp>
        <p:nvSpPr>
          <p:cNvPr id="3" name="Content Placeholder 2">
            <a:extLst>
              <a:ext uri="{FF2B5EF4-FFF2-40B4-BE49-F238E27FC236}">
                <a16:creationId xmlns:a16="http://schemas.microsoft.com/office/drawing/2014/main" id="{DD25BAE6-0D4D-EA21-3066-92CC5FACB6EA}"/>
              </a:ext>
            </a:extLst>
          </p:cNvPr>
          <p:cNvSpPr>
            <a:spLocks noGrp="1"/>
          </p:cNvSpPr>
          <p:nvPr>
            <p:ph idx="1"/>
          </p:nvPr>
        </p:nvSpPr>
        <p:spPr/>
        <p:txBody>
          <a:bodyPr/>
          <a:lstStyle/>
          <a:p>
            <a:endParaRPr lang="en-IN" dirty="0"/>
          </a:p>
          <a:p>
            <a:endParaRPr lang="en-IN" dirty="0"/>
          </a:p>
          <a:p>
            <a:endParaRPr lang="en-IN" dirty="0"/>
          </a:p>
          <a:p>
            <a:endParaRPr lang="en-IN" dirty="0"/>
          </a:p>
          <a:p>
            <a:pPr marL="0" indent="0">
              <a:buNone/>
            </a:pPr>
            <a:r>
              <a:rPr lang="en-IN"/>
              <a:t>      </a:t>
            </a:r>
            <a:endParaRPr lang="en-IN" dirty="0"/>
          </a:p>
          <a:p>
            <a:pPr marL="0" indent="0">
              <a:buNone/>
            </a:pPr>
            <a:endParaRPr lang="en-IN" dirty="0"/>
          </a:p>
          <a:p>
            <a:endParaRPr lang="en-IN" dirty="0"/>
          </a:p>
          <a:p>
            <a:pPr marL="0" indent="0">
              <a:buNone/>
            </a:pPr>
            <a:endParaRPr lang="en-IN" dirty="0"/>
          </a:p>
          <a:p>
            <a:endParaRPr lang="en-IN" dirty="0"/>
          </a:p>
        </p:txBody>
      </p:sp>
      <p:graphicFrame>
        <p:nvGraphicFramePr>
          <p:cNvPr id="5" name="Object 4">
            <a:extLst>
              <a:ext uri="{FF2B5EF4-FFF2-40B4-BE49-F238E27FC236}">
                <a16:creationId xmlns:a16="http://schemas.microsoft.com/office/drawing/2014/main" id="{AE2BC3B6-F9F2-ED41-DC02-BBE4493EF8CB}"/>
              </a:ext>
            </a:extLst>
          </p:cNvPr>
          <p:cNvGraphicFramePr>
            <a:graphicFrameLocks noChangeAspect="1"/>
          </p:cNvGraphicFramePr>
          <p:nvPr>
            <p:extLst>
              <p:ext uri="{D42A27DB-BD31-4B8C-83A1-F6EECF244321}">
                <p14:modId xmlns:p14="http://schemas.microsoft.com/office/powerpoint/2010/main" val="2402387010"/>
              </p:ext>
            </p:extLst>
          </p:nvPr>
        </p:nvGraphicFramePr>
        <p:xfrm>
          <a:off x="838199" y="1825625"/>
          <a:ext cx="2225921" cy="1694323"/>
        </p:xfrm>
        <a:graphic>
          <a:graphicData uri="http://schemas.openxmlformats.org/presentationml/2006/ole">
            <mc:AlternateContent xmlns:mc="http://schemas.openxmlformats.org/markup-compatibility/2006">
              <mc:Choice xmlns:v="urn:schemas-microsoft-com:vml" Requires="v">
                <p:oleObj name="Worksheet" r:id="rId2" imgW="1562135" imgH="1188626" progId="Excel.Sheet.12">
                  <p:link updateAutomatic="1"/>
                </p:oleObj>
              </mc:Choice>
              <mc:Fallback>
                <p:oleObj name="Worksheet" r:id="rId2" imgW="1562135" imgH="1188626" progId="Excel.Sheet.12">
                  <p:link updateAutomatic="1"/>
                  <p:pic>
                    <p:nvPicPr>
                      <p:cNvPr id="0" name=""/>
                      <p:cNvPicPr/>
                      <p:nvPr/>
                    </p:nvPicPr>
                    <p:blipFill>
                      <a:blip r:embed="rId3"/>
                      <a:stretch>
                        <a:fillRect/>
                      </a:stretch>
                    </p:blipFill>
                    <p:spPr>
                      <a:xfrm>
                        <a:off x="838199" y="1825625"/>
                        <a:ext cx="2225921" cy="1694323"/>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A9DD97A5-D9D6-96F8-9207-E9A012903E69}"/>
              </a:ext>
            </a:extLst>
          </p:cNvPr>
          <p:cNvGraphicFramePr>
            <a:graphicFrameLocks noChangeAspect="1"/>
          </p:cNvGraphicFramePr>
          <p:nvPr>
            <p:extLst>
              <p:ext uri="{D42A27DB-BD31-4B8C-83A1-F6EECF244321}">
                <p14:modId xmlns:p14="http://schemas.microsoft.com/office/powerpoint/2010/main" val="534098012"/>
              </p:ext>
            </p:extLst>
          </p:nvPr>
        </p:nvGraphicFramePr>
        <p:xfrm>
          <a:off x="5304604" y="1825625"/>
          <a:ext cx="6049196" cy="3473962"/>
        </p:xfrm>
        <a:graphic>
          <a:graphicData uri="http://schemas.openxmlformats.org/presentationml/2006/ole">
            <mc:AlternateContent xmlns:mc="http://schemas.openxmlformats.org/markup-compatibility/2006">
              <mc:Choice xmlns:v="urn:schemas-microsoft-com:vml" Requires="v">
                <p:oleObj name="Worksheet" r:id="rId4" imgW="5594689" imgH="2751099" progId="Excel.Sheet.12">
                  <p:link updateAutomatic="1"/>
                </p:oleObj>
              </mc:Choice>
              <mc:Fallback>
                <p:oleObj name="Worksheet" r:id="rId4" imgW="5594689" imgH="2751099" progId="Excel.Sheet.12">
                  <p:link updateAutomatic="1"/>
                  <p:pic>
                    <p:nvPicPr>
                      <p:cNvPr id="0" name=""/>
                      <p:cNvPicPr/>
                      <p:nvPr/>
                    </p:nvPicPr>
                    <p:blipFill>
                      <a:blip r:embed="rId5"/>
                      <a:stretch>
                        <a:fillRect/>
                      </a:stretch>
                    </p:blipFill>
                    <p:spPr>
                      <a:xfrm>
                        <a:off x="5304604" y="1825625"/>
                        <a:ext cx="6049196" cy="3473962"/>
                      </a:xfrm>
                      <a:prstGeom prst="rect">
                        <a:avLst/>
                      </a:prstGeom>
                    </p:spPr>
                  </p:pic>
                </p:oleObj>
              </mc:Fallback>
            </mc:AlternateContent>
          </a:graphicData>
        </a:graphic>
      </p:graphicFrame>
    </p:spTree>
    <p:extLst>
      <p:ext uri="{BB962C8B-B14F-4D97-AF65-F5344CB8AC3E}">
        <p14:creationId xmlns:p14="http://schemas.microsoft.com/office/powerpoint/2010/main" val="385460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60433-A848-E65B-B1ED-01ED2176F6D6}"/>
              </a:ext>
            </a:extLst>
          </p:cNvPr>
          <p:cNvSpPr>
            <a:spLocks noGrp="1"/>
          </p:cNvSpPr>
          <p:nvPr>
            <p:ph type="title"/>
          </p:nvPr>
        </p:nvSpPr>
        <p:spPr/>
        <p:txBody>
          <a:bodyPr>
            <a:normAutofit/>
          </a:bodyPr>
          <a:lstStyle/>
          <a:p>
            <a:r>
              <a:rPr lang="en-IN" sz="2400" b="1" dirty="0">
                <a:solidFill>
                  <a:srgbClr val="FF0000"/>
                </a:solidFill>
              </a:rPr>
              <a:t>This pivot chart and table show the effect of Holiday on CNT</a:t>
            </a:r>
            <a:endParaRPr lang="en-IN" sz="2400" dirty="0"/>
          </a:p>
        </p:txBody>
      </p:sp>
      <p:sp>
        <p:nvSpPr>
          <p:cNvPr id="3" name="Content Placeholder 2">
            <a:extLst>
              <a:ext uri="{FF2B5EF4-FFF2-40B4-BE49-F238E27FC236}">
                <a16:creationId xmlns:a16="http://schemas.microsoft.com/office/drawing/2014/main" id="{D6952722-95EB-8B8D-5EAA-75D5EFDE110A}"/>
              </a:ext>
            </a:extLst>
          </p:cNvPr>
          <p:cNvSpPr>
            <a:spLocks noGrp="1"/>
          </p:cNvSpPr>
          <p:nvPr>
            <p:ph idx="1"/>
          </p:nvPr>
        </p:nvSpPr>
        <p:spPr/>
        <p:txBody>
          <a:bodyPr/>
          <a:lstStyle/>
          <a:p>
            <a:endParaRPr lang="en-IN" dirty="0"/>
          </a:p>
        </p:txBody>
      </p:sp>
      <p:graphicFrame>
        <p:nvGraphicFramePr>
          <p:cNvPr id="4" name="Object 3">
            <a:extLst>
              <a:ext uri="{FF2B5EF4-FFF2-40B4-BE49-F238E27FC236}">
                <a16:creationId xmlns:a16="http://schemas.microsoft.com/office/drawing/2014/main" id="{2E0D19DC-DD8E-7381-D8BF-0E62FD282BD3}"/>
              </a:ext>
            </a:extLst>
          </p:cNvPr>
          <p:cNvGraphicFramePr>
            <a:graphicFrameLocks noChangeAspect="1"/>
          </p:cNvGraphicFramePr>
          <p:nvPr>
            <p:extLst>
              <p:ext uri="{D42A27DB-BD31-4B8C-83A1-F6EECF244321}">
                <p14:modId xmlns:p14="http://schemas.microsoft.com/office/powerpoint/2010/main" val="2911171118"/>
              </p:ext>
            </p:extLst>
          </p:nvPr>
        </p:nvGraphicFramePr>
        <p:xfrm>
          <a:off x="838200" y="1825625"/>
          <a:ext cx="3127446" cy="1603375"/>
        </p:xfrm>
        <a:graphic>
          <a:graphicData uri="http://schemas.openxmlformats.org/presentationml/2006/ole">
            <mc:AlternateContent xmlns:mc="http://schemas.openxmlformats.org/markup-compatibility/2006">
              <mc:Choice xmlns:v="urn:schemas-microsoft-com:vml" Requires="v">
                <p:oleObj name="Worksheet" r:id="rId2" imgW="1440074" imgH="738967" progId="Excel.Sheet.12">
                  <p:link updateAutomatic="1"/>
                </p:oleObj>
              </mc:Choice>
              <mc:Fallback>
                <p:oleObj name="Worksheet" r:id="rId2" imgW="1440074" imgH="738967" progId="Excel.Sheet.12">
                  <p:link updateAutomatic="1"/>
                  <p:pic>
                    <p:nvPicPr>
                      <p:cNvPr id="0" name=""/>
                      <p:cNvPicPr/>
                      <p:nvPr/>
                    </p:nvPicPr>
                    <p:blipFill>
                      <a:blip r:embed="rId3"/>
                      <a:stretch>
                        <a:fillRect/>
                      </a:stretch>
                    </p:blipFill>
                    <p:spPr>
                      <a:xfrm>
                        <a:off x="838200" y="1825625"/>
                        <a:ext cx="3127446" cy="160337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5E0E01EA-3837-1CBE-AA32-A21E64D2663E}"/>
              </a:ext>
            </a:extLst>
          </p:cNvPr>
          <p:cNvGraphicFramePr>
            <a:graphicFrameLocks noChangeAspect="1"/>
          </p:cNvGraphicFramePr>
          <p:nvPr>
            <p:extLst>
              <p:ext uri="{D42A27DB-BD31-4B8C-83A1-F6EECF244321}">
                <p14:modId xmlns:p14="http://schemas.microsoft.com/office/powerpoint/2010/main" val="626939698"/>
              </p:ext>
            </p:extLst>
          </p:nvPr>
        </p:nvGraphicFramePr>
        <p:xfrm>
          <a:off x="5742193" y="1825625"/>
          <a:ext cx="5611607" cy="3369686"/>
        </p:xfrm>
        <a:graphic>
          <a:graphicData uri="http://schemas.openxmlformats.org/presentationml/2006/ole">
            <mc:AlternateContent xmlns:mc="http://schemas.openxmlformats.org/markup-compatibility/2006">
              <mc:Choice xmlns:v="urn:schemas-microsoft-com:vml" Requires="v">
                <p:oleObj name="Worksheet" r:id="rId4" imgW="4581398" imgH="2751099" progId="Excel.Sheet.12">
                  <p:link updateAutomatic="1"/>
                </p:oleObj>
              </mc:Choice>
              <mc:Fallback>
                <p:oleObj name="Worksheet" r:id="rId4" imgW="4581398" imgH="2751099" progId="Excel.Sheet.12">
                  <p:link updateAutomatic="1"/>
                  <p:pic>
                    <p:nvPicPr>
                      <p:cNvPr id="0" name=""/>
                      <p:cNvPicPr/>
                      <p:nvPr/>
                    </p:nvPicPr>
                    <p:blipFill>
                      <a:blip r:embed="rId5"/>
                      <a:stretch>
                        <a:fillRect/>
                      </a:stretch>
                    </p:blipFill>
                    <p:spPr>
                      <a:xfrm>
                        <a:off x="5742193" y="1825625"/>
                        <a:ext cx="5611607" cy="3369686"/>
                      </a:xfrm>
                      <a:prstGeom prst="rect">
                        <a:avLst/>
                      </a:prstGeom>
                    </p:spPr>
                  </p:pic>
                </p:oleObj>
              </mc:Fallback>
            </mc:AlternateContent>
          </a:graphicData>
        </a:graphic>
      </p:graphicFrame>
    </p:spTree>
    <p:extLst>
      <p:ext uri="{BB962C8B-B14F-4D97-AF65-F5344CB8AC3E}">
        <p14:creationId xmlns:p14="http://schemas.microsoft.com/office/powerpoint/2010/main" val="1195943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47B55-1C3C-C25C-1564-88780C6C07A9}"/>
              </a:ext>
            </a:extLst>
          </p:cNvPr>
          <p:cNvSpPr>
            <a:spLocks noGrp="1"/>
          </p:cNvSpPr>
          <p:nvPr>
            <p:ph type="title"/>
          </p:nvPr>
        </p:nvSpPr>
        <p:spPr/>
        <p:txBody>
          <a:bodyPr>
            <a:normAutofit/>
          </a:bodyPr>
          <a:lstStyle/>
          <a:p>
            <a:r>
              <a:rPr lang="en-IN" sz="2400" b="1" dirty="0">
                <a:solidFill>
                  <a:srgbClr val="FF0000"/>
                </a:solidFill>
              </a:rPr>
              <a:t>This pivot chart and  show the effect of Humidity on CNT</a:t>
            </a:r>
            <a:endParaRPr lang="en-IN" sz="2400" dirty="0"/>
          </a:p>
        </p:txBody>
      </p:sp>
      <p:sp>
        <p:nvSpPr>
          <p:cNvPr id="3" name="Content Placeholder 2">
            <a:extLst>
              <a:ext uri="{FF2B5EF4-FFF2-40B4-BE49-F238E27FC236}">
                <a16:creationId xmlns:a16="http://schemas.microsoft.com/office/drawing/2014/main" id="{4F62906A-B6B1-458A-46DD-4966791ED119}"/>
              </a:ext>
            </a:extLst>
          </p:cNvPr>
          <p:cNvSpPr>
            <a:spLocks noGrp="1"/>
          </p:cNvSpPr>
          <p:nvPr>
            <p:ph idx="1"/>
          </p:nvPr>
        </p:nvSpPr>
        <p:spPr/>
        <p:txBody>
          <a:bodyPr/>
          <a:lstStyle/>
          <a:p>
            <a:endParaRPr lang="en-IN" dirty="0"/>
          </a:p>
        </p:txBody>
      </p:sp>
      <p:graphicFrame>
        <p:nvGraphicFramePr>
          <p:cNvPr id="4" name="Object 3">
            <a:extLst>
              <a:ext uri="{FF2B5EF4-FFF2-40B4-BE49-F238E27FC236}">
                <a16:creationId xmlns:a16="http://schemas.microsoft.com/office/drawing/2014/main" id="{68F962DD-3069-32FC-1245-8DB5C1ADD5F6}"/>
              </a:ext>
            </a:extLst>
          </p:cNvPr>
          <p:cNvGraphicFramePr>
            <a:graphicFrameLocks noChangeAspect="1"/>
          </p:cNvGraphicFramePr>
          <p:nvPr>
            <p:extLst>
              <p:ext uri="{D42A27DB-BD31-4B8C-83A1-F6EECF244321}">
                <p14:modId xmlns:p14="http://schemas.microsoft.com/office/powerpoint/2010/main" val="1599062674"/>
              </p:ext>
            </p:extLst>
          </p:nvPr>
        </p:nvGraphicFramePr>
        <p:xfrm>
          <a:off x="766917" y="1727789"/>
          <a:ext cx="7462683" cy="3110567"/>
        </p:xfrm>
        <a:graphic>
          <a:graphicData uri="http://schemas.openxmlformats.org/presentationml/2006/ole">
            <mc:AlternateContent xmlns:mc="http://schemas.openxmlformats.org/markup-compatibility/2006">
              <mc:Choice xmlns:v="urn:schemas-microsoft-com:vml" Requires="v">
                <p:oleObj name="Worksheet" r:id="rId2" imgW="5251768" imgH="2751099" progId="Excel.Sheet.12">
                  <p:link updateAutomatic="1"/>
                </p:oleObj>
              </mc:Choice>
              <mc:Fallback>
                <p:oleObj name="Worksheet" r:id="rId2" imgW="5251768" imgH="2751099" progId="Excel.Sheet.12">
                  <p:link updateAutomatic="1"/>
                  <p:pic>
                    <p:nvPicPr>
                      <p:cNvPr id="0" name=""/>
                      <p:cNvPicPr/>
                      <p:nvPr/>
                    </p:nvPicPr>
                    <p:blipFill>
                      <a:blip r:embed="rId3"/>
                      <a:stretch>
                        <a:fillRect/>
                      </a:stretch>
                    </p:blipFill>
                    <p:spPr>
                      <a:xfrm>
                        <a:off x="766917" y="1727789"/>
                        <a:ext cx="7462683" cy="3110567"/>
                      </a:xfrm>
                      <a:prstGeom prst="rect">
                        <a:avLst/>
                      </a:prstGeom>
                    </p:spPr>
                  </p:pic>
                </p:oleObj>
              </mc:Fallback>
            </mc:AlternateContent>
          </a:graphicData>
        </a:graphic>
      </p:graphicFrame>
    </p:spTree>
    <p:extLst>
      <p:ext uri="{BB962C8B-B14F-4D97-AF65-F5344CB8AC3E}">
        <p14:creationId xmlns:p14="http://schemas.microsoft.com/office/powerpoint/2010/main" val="2424391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C0642-7CD4-7454-88D8-7964F7CB6F3D}"/>
              </a:ext>
            </a:extLst>
          </p:cNvPr>
          <p:cNvSpPr>
            <a:spLocks noGrp="1"/>
          </p:cNvSpPr>
          <p:nvPr>
            <p:ph type="title"/>
          </p:nvPr>
        </p:nvSpPr>
        <p:spPr/>
        <p:txBody>
          <a:bodyPr/>
          <a:lstStyle/>
          <a:p>
            <a:r>
              <a:rPr lang="en-IN" dirty="0"/>
              <a:t>Effect of Windspeed on Bike Rentals</a:t>
            </a:r>
          </a:p>
        </p:txBody>
      </p:sp>
      <p:sp>
        <p:nvSpPr>
          <p:cNvPr id="3" name="Content Placeholder 2">
            <a:extLst>
              <a:ext uri="{FF2B5EF4-FFF2-40B4-BE49-F238E27FC236}">
                <a16:creationId xmlns:a16="http://schemas.microsoft.com/office/drawing/2014/main" id="{EDED6427-3AD7-6A9D-5398-8241EB258C0F}"/>
              </a:ext>
            </a:extLst>
          </p:cNvPr>
          <p:cNvSpPr>
            <a:spLocks noGrp="1"/>
          </p:cNvSpPr>
          <p:nvPr>
            <p:ph idx="1"/>
          </p:nvPr>
        </p:nvSpPr>
        <p:spPr/>
        <p:txBody>
          <a:bodyPr/>
          <a:lstStyle/>
          <a:p>
            <a:endParaRPr lang="en-IN" dirty="0"/>
          </a:p>
        </p:txBody>
      </p:sp>
      <p:graphicFrame>
        <p:nvGraphicFramePr>
          <p:cNvPr id="4" name="Object 3">
            <a:extLst>
              <a:ext uri="{FF2B5EF4-FFF2-40B4-BE49-F238E27FC236}">
                <a16:creationId xmlns:a16="http://schemas.microsoft.com/office/drawing/2014/main" id="{0F26ADE6-B96B-E3E3-F5FD-0462C15F8F95}"/>
              </a:ext>
            </a:extLst>
          </p:cNvPr>
          <p:cNvGraphicFramePr>
            <a:graphicFrameLocks noChangeAspect="1"/>
          </p:cNvGraphicFramePr>
          <p:nvPr>
            <p:extLst>
              <p:ext uri="{D42A27DB-BD31-4B8C-83A1-F6EECF244321}">
                <p14:modId xmlns:p14="http://schemas.microsoft.com/office/powerpoint/2010/main" val="2621764612"/>
              </p:ext>
            </p:extLst>
          </p:nvPr>
        </p:nvGraphicFramePr>
        <p:xfrm>
          <a:off x="838200" y="1825625"/>
          <a:ext cx="5899176" cy="3149498"/>
        </p:xfrm>
        <a:graphic>
          <a:graphicData uri="http://schemas.openxmlformats.org/presentationml/2006/ole">
            <mc:AlternateContent xmlns:mc="http://schemas.openxmlformats.org/markup-compatibility/2006">
              <mc:Choice xmlns:v="urn:schemas-microsoft-com:vml" Requires="v">
                <p:oleObj name="Worksheet" r:id="rId2" imgW="5152813" imgH="2751099" progId="Excel.Sheet.12">
                  <p:link updateAutomatic="1"/>
                </p:oleObj>
              </mc:Choice>
              <mc:Fallback>
                <p:oleObj name="Worksheet" r:id="rId2" imgW="5152813" imgH="2751099" progId="Excel.Sheet.12">
                  <p:link updateAutomatic="1"/>
                  <p:pic>
                    <p:nvPicPr>
                      <p:cNvPr id="0" name=""/>
                      <p:cNvPicPr/>
                      <p:nvPr/>
                    </p:nvPicPr>
                    <p:blipFill>
                      <a:blip r:embed="rId3"/>
                      <a:stretch>
                        <a:fillRect/>
                      </a:stretch>
                    </p:blipFill>
                    <p:spPr>
                      <a:xfrm>
                        <a:off x="838200" y="1825625"/>
                        <a:ext cx="5899176" cy="3149498"/>
                      </a:xfrm>
                      <a:prstGeom prst="rect">
                        <a:avLst/>
                      </a:prstGeom>
                    </p:spPr>
                  </p:pic>
                </p:oleObj>
              </mc:Fallback>
            </mc:AlternateContent>
          </a:graphicData>
        </a:graphic>
      </p:graphicFrame>
    </p:spTree>
    <p:extLst>
      <p:ext uri="{BB962C8B-B14F-4D97-AF65-F5344CB8AC3E}">
        <p14:creationId xmlns:p14="http://schemas.microsoft.com/office/powerpoint/2010/main" val="2010968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71575-1229-CA11-0BC1-DBCE3B8BAF0D}"/>
              </a:ext>
            </a:extLst>
          </p:cNvPr>
          <p:cNvSpPr>
            <a:spLocks noGrp="1"/>
          </p:cNvSpPr>
          <p:nvPr>
            <p:ph type="title"/>
          </p:nvPr>
        </p:nvSpPr>
        <p:spPr/>
        <p:txBody>
          <a:bodyPr/>
          <a:lstStyle/>
          <a:p>
            <a:r>
              <a:rPr lang="en-IN" dirty="0">
                <a:solidFill>
                  <a:srgbClr val="FF0000"/>
                </a:solidFill>
              </a:rPr>
              <a:t>Effect of temp on Bike Rentals</a:t>
            </a:r>
          </a:p>
        </p:txBody>
      </p:sp>
      <p:sp>
        <p:nvSpPr>
          <p:cNvPr id="3" name="Content Placeholder 2">
            <a:extLst>
              <a:ext uri="{FF2B5EF4-FFF2-40B4-BE49-F238E27FC236}">
                <a16:creationId xmlns:a16="http://schemas.microsoft.com/office/drawing/2014/main" id="{E79EA0C2-2E26-426C-BA0A-6BD20F3B0E4B}"/>
              </a:ext>
            </a:extLst>
          </p:cNvPr>
          <p:cNvSpPr>
            <a:spLocks noGrp="1"/>
          </p:cNvSpPr>
          <p:nvPr>
            <p:ph idx="1"/>
          </p:nvPr>
        </p:nvSpPr>
        <p:spPr/>
        <p:txBody>
          <a:bodyPr/>
          <a:lstStyle/>
          <a:p>
            <a:endParaRPr lang="en-IN" dirty="0"/>
          </a:p>
        </p:txBody>
      </p:sp>
      <p:graphicFrame>
        <p:nvGraphicFramePr>
          <p:cNvPr id="4" name="Object 3">
            <a:extLst>
              <a:ext uri="{FF2B5EF4-FFF2-40B4-BE49-F238E27FC236}">
                <a16:creationId xmlns:a16="http://schemas.microsoft.com/office/drawing/2014/main" id="{BD2DDE2E-A4E6-67AD-3591-1236ED533030}"/>
              </a:ext>
            </a:extLst>
          </p:cNvPr>
          <p:cNvGraphicFramePr>
            <a:graphicFrameLocks noChangeAspect="1"/>
          </p:cNvGraphicFramePr>
          <p:nvPr>
            <p:extLst>
              <p:ext uri="{D42A27DB-BD31-4B8C-83A1-F6EECF244321}">
                <p14:modId xmlns:p14="http://schemas.microsoft.com/office/powerpoint/2010/main" val="2173446877"/>
              </p:ext>
            </p:extLst>
          </p:nvPr>
        </p:nvGraphicFramePr>
        <p:xfrm>
          <a:off x="838200" y="1825625"/>
          <a:ext cx="5331542" cy="2751137"/>
        </p:xfrm>
        <a:graphic>
          <a:graphicData uri="http://schemas.openxmlformats.org/presentationml/2006/ole">
            <mc:AlternateContent xmlns:mc="http://schemas.openxmlformats.org/markup-compatibility/2006">
              <mc:Choice xmlns:v="urn:schemas-microsoft-com:vml" Requires="v">
                <p:oleObj name="Worksheet" r:id="rId2" imgW="4726051" imgH="2751099" progId="Excel.Sheet.12">
                  <p:link updateAutomatic="1"/>
                </p:oleObj>
              </mc:Choice>
              <mc:Fallback>
                <p:oleObj name="Worksheet" r:id="rId2" imgW="4726051" imgH="2751099" progId="Excel.Sheet.12">
                  <p:link updateAutomatic="1"/>
                  <p:pic>
                    <p:nvPicPr>
                      <p:cNvPr id="0" name=""/>
                      <p:cNvPicPr/>
                      <p:nvPr/>
                    </p:nvPicPr>
                    <p:blipFill>
                      <a:blip r:embed="rId3"/>
                      <a:stretch>
                        <a:fillRect/>
                      </a:stretch>
                    </p:blipFill>
                    <p:spPr>
                      <a:xfrm>
                        <a:off x="838200" y="1825625"/>
                        <a:ext cx="5331542" cy="2751137"/>
                      </a:xfrm>
                      <a:prstGeom prst="rect">
                        <a:avLst/>
                      </a:prstGeom>
                    </p:spPr>
                  </p:pic>
                </p:oleObj>
              </mc:Fallback>
            </mc:AlternateContent>
          </a:graphicData>
        </a:graphic>
      </p:graphicFrame>
    </p:spTree>
    <p:extLst>
      <p:ext uri="{BB962C8B-B14F-4D97-AF65-F5344CB8AC3E}">
        <p14:creationId xmlns:p14="http://schemas.microsoft.com/office/powerpoint/2010/main" val="465399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D956C-E0FB-1FF7-EE34-58B8B2F009D7}"/>
              </a:ext>
            </a:extLst>
          </p:cNvPr>
          <p:cNvSpPr>
            <a:spLocks noGrp="1"/>
          </p:cNvSpPr>
          <p:nvPr>
            <p:ph type="title"/>
          </p:nvPr>
        </p:nvSpPr>
        <p:spPr/>
        <p:txBody>
          <a:bodyPr>
            <a:normAutofit/>
          </a:bodyPr>
          <a:lstStyle/>
          <a:p>
            <a:r>
              <a:rPr lang="en-IN" sz="2800" dirty="0">
                <a:solidFill>
                  <a:srgbClr val="FF0000"/>
                </a:solidFill>
              </a:rPr>
              <a:t>Hr relation to the Bike rentals</a:t>
            </a:r>
          </a:p>
        </p:txBody>
      </p:sp>
      <p:sp>
        <p:nvSpPr>
          <p:cNvPr id="3" name="Content Placeholder 2">
            <a:extLst>
              <a:ext uri="{FF2B5EF4-FFF2-40B4-BE49-F238E27FC236}">
                <a16:creationId xmlns:a16="http://schemas.microsoft.com/office/drawing/2014/main" id="{DAC4D027-61B2-6047-7334-8B31DDAD6126}"/>
              </a:ext>
            </a:extLst>
          </p:cNvPr>
          <p:cNvSpPr>
            <a:spLocks noGrp="1"/>
          </p:cNvSpPr>
          <p:nvPr>
            <p:ph idx="1"/>
          </p:nvPr>
        </p:nvSpPr>
        <p:spPr/>
        <p:txBody>
          <a:bodyPr/>
          <a:lstStyle/>
          <a:p>
            <a:endParaRPr lang="en-IN" dirty="0"/>
          </a:p>
        </p:txBody>
      </p:sp>
      <p:graphicFrame>
        <p:nvGraphicFramePr>
          <p:cNvPr id="4" name="Object 3">
            <a:extLst>
              <a:ext uri="{FF2B5EF4-FFF2-40B4-BE49-F238E27FC236}">
                <a16:creationId xmlns:a16="http://schemas.microsoft.com/office/drawing/2014/main" id="{DF28D7D7-BE9D-FF93-D6F3-D7F3B3B17142}"/>
              </a:ext>
            </a:extLst>
          </p:cNvPr>
          <p:cNvGraphicFramePr>
            <a:graphicFrameLocks noChangeAspect="1"/>
          </p:cNvGraphicFramePr>
          <p:nvPr>
            <p:extLst>
              <p:ext uri="{D42A27DB-BD31-4B8C-83A1-F6EECF244321}">
                <p14:modId xmlns:p14="http://schemas.microsoft.com/office/powerpoint/2010/main" val="364492214"/>
              </p:ext>
            </p:extLst>
          </p:nvPr>
        </p:nvGraphicFramePr>
        <p:xfrm>
          <a:off x="838200" y="1825625"/>
          <a:ext cx="5847735" cy="3113402"/>
        </p:xfrm>
        <a:graphic>
          <a:graphicData uri="http://schemas.openxmlformats.org/presentationml/2006/ole">
            <mc:AlternateContent xmlns:mc="http://schemas.openxmlformats.org/markup-compatibility/2006">
              <mc:Choice xmlns:v="urn:schemas-microsoft-com:vml" Requires="v">
                <p:oleObj name="Worksheet" r:id="rId2" imgW="5167926" imgH="2751099" progId="Excel.Sheet.12">
                  <p:link updateAutomatic="1"/>
                </p:oleObj>
              </mc:Choice>
              <mc:Fallback>
                <p:oleObj name="Worksheet" r:id="rId2" imgW="5167926" imgH="2751099" progId="Excel.Sheet.12">
                  <p:link updateAutomatic="1"/>
                  <p:pic>
                    <p:nvPicPr>
                      <p:cNvPr id="0" name=""/>
                      <p:cNvPicPr/>
                      <p:nvPr/>
                    </p:nvPicPr>
                    <p:blipFill>
                      <a:blip r:embed="rId3"/>
                      <a:stretch>
                        <a:fillRect/>
                      </a:stretch>
                    </p:blipFill>
                    <p:spPr>
                      <a:xfrm>
                        <a:off x="838200" y="1825625"/>
                        <a:ext cx="5847735" cy="3113402"/>
                      </a:xfrm>
                      <a:prstGeom prst="rect">
                        <a:avLst/>
                      </a:prstGeom>
                    </p:spPr>
                  </p:pic>
                </p:oleObj>
              </mc:Fallback>
            </mc:AlternateContent>
          </a:graphicData>
        </a:graphic>
      </p:graphicFrame>
    </p:spTree>
    <p:extLst>
      <p:ext uri="{BB962C8B-B14F-4D97-AF65-F5344CB8AC3E}">
        <p14:creationId xmlns:p14="http://schemas.microsoft.com/office/powerpoint/2010/main" val="1289361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D4E2E-E4B9-AA74-0B86-AABFC36D021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98A2478-A525-6F47-5774-AEA6F352DF22}"/>
              </a:ext>
            </a:extLst>
          </p:cNvPr>
          <p:cNvSpPr>
            <a:spLocks noGrp="1"/>
          </p:cNvSpPr>
          <p:nvPr>
            <p:ph idx="1"/>
          </p:nvPr>
        </p:nvSpPr>
        <p:spPr/>
        <p:txBody>
          <a:bodyPr/>
          <a:lstStyle/>
          <a:p>
            <a:r>
              <a:rPr lang="en-IN" dirty="0"/>
              <a:t>From the above chart and table we see the effect of various factor effecting the Bike rentals.  The bike rentals demand effect </a:t>
            </a:r>
            <a:r>
              <a:rPr lang="en-IN"/>
              <a:t>of  weather situation </a:t>
            </a:r>
            <a:r>
              <a:rPr lang="en-IN" dirty="0"/>
              <a:t>and other on our B</a:t>
            </a:r>
            <a:r>
              <a:rPr lang="en-IN" b="1" dirty="0"/>
              <a:t>ike rentals.</a:t>
            </a:r>
            <a:endParaRPr lang="en-IN" dirty="0"/>
          </a:p>
        </p:txBody>
      </p:sp>
    </p:spTree>
    <p:extLst>
      <p:ext uri="{BB962C8B-B14F-4D97-AF65-F5344CB8AC3E}">
        <p14:creationId xmlns:p14="http://schemas.microsoft.com/office/powerpoint/2010/main" val="3841938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21656-CCC0-5DC4-BA58-F5C91D240F8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5CDE52F-BF4A-CDDE-04FA-384CB91F322A}"/>
              </a:ext>
            </a:extLst>
          </p:cNvPr>
          <p:cNvSpPr>
            <a:spLocks noGrp="1"/>
          </p:cNvSpPr>
          <p:nvPr>
            <p:ph idx="1"/>
          </p:nvPr>
        </p:nvSpPr>
        <p:spPr/>
        <p:txBody>
          <a:bodyPr>
            <a:normAutofit/>
          </a:bodyPr>
          <a:lstStyle/>
          <a:p>
            <a:pPr marL="0" indent="0" algn="ctr">
              <a:buNone/>
            </a:pPr>
            <a:r>
              <a:rPr lang="en-IN" sz="7200" dirty="0"/>
              <a:t>Thank you</a:t>
            </a:r>
          </a:p>
        </p:txBody>
      </p:sp>
    </p:spTree>
    <p:extLst>
      <p:ext uri="{BB962C8B-B14F-4D97-AF65-F5344CB8AC3E}">
        <p14:creationId xmlns:p14="http://schemas.microsoft.com/office/powerpoint/2010/main" val="3934951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314</Words>
  <Application>Microsoft Office PowerPoint</Application>
  <PresentationFormat>Widescreen</PresentationFormat>
  <Paragraphs>44</Paragraphs>
  <Slides>14</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Links</vt:lpstr>
      </vt:variant>
      <vt:variant>
        <vt:i4>10</vt:i4>
      </vt:variant>
      <vt:variant>
        <vt:lpstr>Slide Titles</vt:lpstr>
      </vt:variant>
      <vt:variant>
        <vt:i4>14</vt:i4>
      </vt:variant>
    </vt:vector>
  </HeadingPairs>
  <TitlesOfParts>
    <vt:vector size="28" baseType="lpstr">
      <vt:lpstr>Aptos</vt:lpstr>
      <vt:lpstr>Aptos Display</vt:lpstr>
      <vt:lpstr>Arial</vt:lpstr>
      <vt:lpstr>Office Theme</vt:lpstr>
      <vt:lpstr>file:///C:\Users\sudha\Desktop\New%20folder\EXCEL%20PROJECT\Datasheet%20B.xlsx!Weekday!R3C1:R11C2</vt:lpstr>
      <vt:lpstr>file:///C:\Users\sudha\Desktop\New%20folder\EXCEL%20PROJECT\Datasheet%20B.xlsx!Weekday!%5bDatasheet%20B.xlsx%5dWeekday%20Chart%202</vt:lpstr>
      <vt:lpstr>file:///C:\Users\sudha\Desktop\New%20folder\EXCEL%20PROJECT\Datasheet%20B.xlsx!Weathersit!R3C1:R8C2</vt:lpstr>
      <vt:lpstr>file:///C:\Users\sudha\Desktop\New%20folder\EXCEL%20PROJECT\Datasheet%20B.xlsx!Weathersit!%5bDatasheet%20B.xlsx%5dWeathersit%20Chart%201</vt:lpstr>
      <vt:lpstr>file:///C:\Users\sudha\Desktop\New%20folder\EXCEL%20PROJECT\Datasheet%20B.xlsx!Holiday!R3C1:R6C2</vt:lpstr>
      <vt:lpstr>file:///C:\Users\sudha\Desktop\New%20folder\EXCEL%20PROJECT\Datasheet%20B.xlsx!Holiday!%5bDatasheet%20B.xlsx%5dHoliday%20Chart%201</vt:lpstr>
      <vt:lpstr>file:///C:\Users\sudha\Desktop\New%20folder\EXCEL%20PROJECT\Datasheet%20B.xlsx!Hum!%5bDatasheet%20B.xlsx%5dHum%20Chart%201</vt:lpstr>
      <vt:lpstr>file:///C:\Users\sudha\Desktop\New%20folder\EXCEL%20PROJECT\Datasheet%20B.xlsx!Windspeed!%5bDatasheet%20B.xlsx%5dWindspeed%20Chart%201</vt:lpstr>
      <vt:lpstr>file:///C:\Users\sudha\Desktop\New%20folder\EXCEL%20PROJECT\Datasheet%20B.xlsx!Temp!%5bDatasheet%20B.xlsx%5dTemp%20Chart%201</vt:lpstr>
      <vt:lpstr>file:///C:\Users\sudha\Desktop\New%20folder\EXCEL%20PROJECT\Datasheet%20B.xlsx!Hr!%5bDatasheet%20B.xlsx%5dHr%20Chart%201</vt:lpstr>
      <vt:lpstr>Bike Sharing Demand Analysis Project Using Excel</vt:lpstr>
      <vt:lpstr>Introducton</vt:lpstr>
      <vt:lpstr>PowerPoint Presentation</vt:lpstr>
      <vt:lpstr>PowerPoint Presentation</vt:lpstr>
      <vt:lpstr>PowerPoint Presentation</vt:lpstr>
      <vt:lpstr>This pivot chart and table show the effect of weekday on CNT</vt:lpstr>
      <vt:lpstr>This pivot chart and table show the effect of weathersit on CNT</vt:lpstr>
      <vt:lpstr>This pivot chart and table show the effect of Holiday on CNT</vt:lpstr>
      <vt:lpstr>This pivot chart and  show the effect of Humidity on CNT</vt:lpstr>
      <vt:lpstr>Effect of Windspeed on Bike Rentals</vt:lpstr>
      <vt:lpstr>Effect of temp on Bike Rentals</vt:lpstr>
      <vt:lpstr>Hr relation to the Bike rentals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SUDHANSHU SHARMA</dc:creator>
  <cp:lastModifiedBy>SUDHANSHU SHARMA</cp:lastModifiedBy>
  <cp:revision>6</cp:revision>
  <dcterms:created xsi:type="dcterms:W3CDTF">2026-03-25T02:50:23Z</dcterms:created>
  <dcterms:modified xsi:type="dcterms:W3CDTF">2026-03-25T05:29:22Z</dcterms:modified>
</cp:coreProperties>
</file>